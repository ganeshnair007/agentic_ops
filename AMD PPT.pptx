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</p:sldIdLst>
  <p:sldSz cx="18288000" cy="10287000"/>
  <p:notesSz cx="6858000" cy="9144000"/>
  <p:embeddedFontLst>
    <p:embeddedFont>
      <p:font typeface="TT Autonomous" panose="020B0604020202020204" charset="0"/>
      <p:regular r:id="rId8"/>
    </p:embeddedFont>
    <p:embeddedFont>
      <p:font typeface="TT Autonomous Bold" panose="020B0604020202020204" charset="0"/>
      <p:regular r:id="rId9"/>
    </p:embeddedFont>
    <p:embeddedFont>
      <p:font typeface="TT Hoves" panose="020B0604020202020204" charset="0"/>
      <p:regular r:id="rId10"/>
    </p:embeddedFont>
    <p:embeddedFont>
      <p:font typeface="TT Hoves Bold Italics" panose="020B0604020202020204" charset="0"/>
      <p:regular r:id="rId11"/>
    </p:embeddedFont>
    <p:embeddedFont>
      <p:font typeface="TT Hoves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18643"/>
            <a:ext cx="16230600" cy="4527118"/>
            <a:chOff x="0" y="0"/>
            <a:chExt cx="4274726" cy="11923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192327"/>
            </a:xfrm>
            <a:custGeom>
              <a:avLst/>
              <a:gdLst/>
              <a:ahLst/>
              <a:cxnLst/>
              <a:rect l="l" t="t" r="r" b="b"/>
              <a:pathLst>
                <a:path w="4274726" h="1192327">
                  <a:moveTo>
                    <a:pt x="16695" y="0"/>
                  </a:moveTo>
                  <a:lnTo>
                    <a:pt x="4258031" y="0"/>
                  </a:lnTo>
                  <a:cubicBezTo>
                    <a:pt x="4267252" y="0"/>
                    <a:pt x="4274726" y="7475"/>
                    <a:pt x="4274726" y="16695"/>
                  </a:cubicBezTo>
                  <a:lnTo>
                    <a:pt x="4274726" y="1175633"/>
                  </a:lnTo>
                  <a:cubicBezTo>
                    <a:pt x="4274726" y="1180060"/>
                    <a:pt x="4272967" y="1184307"/>
                    <a:pt x="4269836" y="1187438"/>
                  </a:cubicBezTo>
                  <a:cubicBezTo>
                    <a:pt x="4266705" y="1190568"/>
                    <a:pt x="4262459" y="1192327"/>
                    <a:pt x="4258031" y="1192327"/>
                  </a:cubicBezTo>
                  <a:lnTo>
                    <a:pt x="16695" y="1192327"/>
                  </a:lnTo>
                  <a:cubicBezTo>
                    <a:pt x="12267" y="1192327"/>
                    <a:pt x="8021" y="1190568"/>
                    <a:pt x="4890" y="1187438"/>
                  </a:cubicBezTo>
                  <a:cubicBezTo>
                    <a:pt x="1759" y="1184307"/>
                    <a:pt x="0" y="1180060"/>
                    <a:pt x="0" y="1175633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274726" cy="1173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4627" y="4190973"/>
            <a:ext cx="9518745" cy="4154467"/>
            <a:chOff x="0" y="0"/>
            <a:chExt cx="1939098" cy="846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9098" cy="846328"/>
            </a:xfrm>
            <a:custGeom>
              <a:avLst/>
              <a:gdLst/>
              <a:ahLst/>
              <a:cxnLst/>
              <a:rect l="l" t="t" r="r" b="b"/>
              <a:pathLst>
                <a:path w="1939098" h="846328">
                  <a:moveTo>
                    <a:pt x="1843500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548408"/>
                  </a:lnTo>
                  <a:cubicBezTo>
                    <a:pt x="0" y="601205"/>
                    <a:pt x="42801" y="644006"/>
                    <a:pt x="95598" y="644006"/>
                  </a:cubicBezTo>
                  <a:lnTo>
                    <a:pt x="204343" y="644006"/>
                  </a:lnTo>
                  <a:cubicBezTo>
                    <a:pt x="231994" y="644005"/>
                    <a:pt x="258291" y="655978"/>
                    <a:pt x="276447" y="676833"/>
                  </a:cubicBezTo>
                  <a:lnTo>
                    <a:pt x="395420" y="813493"/>
                  </a:lnTo>
                  <a:cubicBezTo>
                    <a:pt x="413574" y="834352"/>
                    <a:pt x="439871" y="846327"/>
                    <a:pt x="467524" y="846328"/>
                  </a:cubicBezTo>
                  <a:lnTo>
                    <a:pt x="1471574" y="846328"/>
                  </a:lnTo>
                  <a:cubicBezTo>
                    <a:pt x="1499226" y="846328"/>
                    <a:pt x="1525523" y="834356"/>
                    <a:pt x="1543679" y="813500"/>
                  </a:cubicBezTo>
                  <a:lnTo>
                    <a:pt x="1662650" y="676840"/>
                  </a:lnTo>
                  <a:cubicBezTo>
                    <a:pt x="1680806" y="655984"/>
                    <a:pt x="1707103" y="644012"/>
                    <a:pt x="1734754" y="644012"/>
                  </a:cubicBezTo>
                  <a:lnTo>
                    <a:pt x="1843500" y="644012"/>
                  </a:lnTo>
                  <a:cubicBezTo>
                    <a:pt x="1896298" y="644012"/>
                    <a:pt x="1939098" y="601211"/>
                    <a:pt x="1939098" y="548414"/>
                  </a:cubicBezTo>
                  <a:lnTo>
                    <a:pt x="1939098" y="95598"/>
                  </a:lnTo>
                  <a:cubicBezTo>
                    <a:pt x="1939098" y="42801"/>
                    <a:pt x="1896298" y="0"/>
                    <a:pt x="1843500" y="0"/>
                  </a:cubicBezTo>
                  <a:close/>
                </a:path>
              </a:pathLst>
            </a:custGeom>
            <a:blipFill>
              <a:blip r:embed="rId2"/>
              <a:stretch>
                <a:fillRect t="-119" b="-11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flipV="1">
            <a:off x="2684457" y="6115582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319045"/>
                </a:moveTo>
                <a:lnTo>
                  <a:pt x="319045" y="319045"/>
                </a:lnTo>
                <a:lnTo>
                  <a:pt x="319045" y="0"/>
                </a:lnTo>
                <a:lnTo>
                  <a:pt x="0" y="0"/>
                </a:lnTo>
                <a:lnTo>
                  <a:pt x="0" y="319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42210" y="1976480"/>
            <a:ext cx="12603580" cy="81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34"/>
              </a:lnSpc>
            </a:pPr>
            <a:r>
              <a:rPr lang="en-US" sz="613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AI SRE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7442" y="2595983"/>
            <a:ext cx="7313116" cy="87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8"/>
              </a:lnSpc>
            </a:pPr>
            <a:r>
              <a:rPr lang="en-US" sz="2278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AUTONOMOUS INCIDENT RESPONSE USING LOCAL AGENTIC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4412" y="1057275"/>
            <a:ext cx="2659177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</a:pPr>
            <a:r>
              <a:rPr lang="en-US" sz="1399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AMD AGENTIC AI HACKATHON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76800" y="8871444"/>
            <a:ext cx="8840242" cy="425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679"/>
              </a:lnSpc>
            </a:pPr>
            <a:r>
              <a:rPr lang="en-US" sz="1400" i="1" spc="715" dirty="0">
                <a:solidFill>
                  <a:srgbClr val="FFFFFF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GANESH  NAIR</a:t>
            </a:r>
            <a:br>
              <a:rPr lang="en-US" sz="1400" i="1" spc="715" dirty="0">
                <a:solidFill>
                  <a:srgbClr val="FFFFFF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</a:br>
            <a:r>
              <a:rPr lang="en-US" sz="1400" i="1" spc="715" dirty="0">
                <a:solidFill>
                  <a:srgbClr val="FFFFFF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ARJIT UJWAL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15286267" y="6115582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319046" y="319045"/>
                </a:moveTo>
                <a:lnTo>
                  <a:pt x="0" y="319045"/>
                </a:lnTo>
                <a:lnTo>
                  <a:pt x="0" y="0"/>
                </a:lnTo>
                <a:lnTo>
                  <a:pt x="319046" y="0"/>
                </a:lnTo>
                <a:lnTo>
                  <a:pt x="319046" y="319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79823"/>
            <a:ext cx="6452131" cy="5978477"/>
            <a:chOff x="0" y="0"/>
            <a:chExt cx="1699327" cy="1574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9327" cy="1574578"/>
            </a:xfrm>
            <a:custGeom>
              <a:avLst/>
              <a:gdLst/>
              <a:ahLst/>
              <a:cxnLst/>
              <a:rect l="l" t="t" r="r" b="b"/>
              <a:pathLst>
                <a:path w="1699327" h="1574578">
                  <a:moveTo>
                    <a:pt x="41997" y="0"/>
                  </a:moveTo>
                  <a:lnTo>
                    <a:pt x="1657330" y="0"/>
                  </a:lnTo>
                  <a:cubicBezTo>
                    <a:pt x="1668468" y="0"/>
                    <a:pt x="1679150" y="4425"/>
                    <a:pt x="1687026" y="12301"/>
                  </a:cubicBezTo>
                  <a:cubicBezTo>
                    <a:pt x="1694902" y="20176"/>
                    <a:pt x="1699327" y="30858"/>
                    <a:pt x="1699327" y="41997"/>
                  </a:cubicBezTo>
                  <a:lnTo>
                    <a:pt x="1699327" y="1532582"/>
                  </a:lnTo>
                  <a:cubicBezTo>
                    <a:pt x="1699327" y="1543720"/>
                    <a:pt x="1694902" y="1554402"/>
                    <a:pt x="1687026" y="1562278"/>
                  </a:cubicBezTo>
                  <a:cubicBezTo>
                    <a:pt x="1679150" y="1570154"/>
                    <a:pt x="1668468" y="1574578"/>
                    <a:pt x="1657330" y="1574578"/>
                  </a:cubicBezTo>
                  <a:lnTo>
                    <a:pt x="41997" y="1574578"/>
                  </a:lnTo>
                  <a:cubicBezTo>
                    <a:pt x="30858" y="1574578"/>
                    <a:pt x="20176" y="1570154"/>
                    <a:pt x="12301" y="1562278"/>
                  </a:cubicBezTo>
                  <a:cubicBezTo>
                    <a:pt x="4425" y="1554402"/>
                    <a:pt x="0" y="1543720"/>
                    <a:pt x="0" y="1532582"/>
                  </a:cubicBezTo>
                  <a:lnTo>
                    <a:pt x="0" y="41997"/>
                  </a:lnTo>
                  <a:cubicBezTo>
                    <a:pt x="0" y="30858"/>
                    <a:pt x="4425" y="20176"/>
                    <a:pt x="12301" y="12301"/>
                  </a:cubicBezTo>
                  <a:cubicBezTo>
                    <a:pt x="20176" y="4425"/>
                    <a:pt x="30858" y="0"/>
                    <a:pt x="41997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699327" cy="1555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65938" y="1125226"/>
            <a:ext cx="7063034" cy="8133074"/>
            <a:chOff x="0" y="0"/>
            <a:chExt cx="1934557" cy="2227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4558" cy="2227640"/>
            </a:xfrm>
            <a:custGeom>
              <a:avLst/>
              <a:gdLst/>
              <a:ahLst/>
              <a:cxnLst/>
              <a:rect l="l" t="t" r="r" b="b"/>
              <a:pathLst>
                <a:path w="1934558" h="2227640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321998" y="2227640"/>
                  </a:lnTo>
                  <a:cubicBezTo>
                    <a:pt x="1378047" y="2227640"/>
                    <a:pt x="1423484" y="2182203"/>
                    <a:pt x="1423484" y="2126154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2"/>
              <a:stretch>
                <a:fillRect t="-53" b="-5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76196" y="3645877"/>
            <a:ext cx="5246365" cy="5246370"/>
            <a:chOff x="0" y="0"/>
            <a:chExt cx="1419732" cy="14197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9733" cy="1419746"/>
            </a:xfrm>
            <a:custGeom>
              <a:avLst/>
              <a:gdLst/>
              <a:ahLst/>
              <a:cxnLst/>
              <a:rect l="l" t="t" r="r" b="b"/>
              <a:pathLst>
                <a:path w="1419733" h="1419746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42073"/>
                  </a:lnTo>
                  <a:cubicBezTo>
                    <a:pt x="0" y="1340199"/>
                    <a:pt x="79547" y="1419746"/>
                    <a:pt x="177673" y="1419746"/>
                  </a:cubicBezTo>
                  <a:lnTo>
                    <a:pt x="1242060" y="1419746"/>
                  </a:lnTo>
                  <a:cubicBezTo>
                    <a:pt x="1340186" y="1419746"/>
                    <a:pt x="1419733" y="1340199"/>
                    <a:pt x="1419733" y="1242073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303516" y="3683617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0"/>
                </a:moveTo>
                <a:lnTo>
                  <a:pt x="319045" y="0"/>
                </a:lnTo>
                <a:lnTo>
                  <a:pt x="319045" y="319046"/>
                </a:lnTo>
                <a:lnTo>
                  <a:pt x="0" y="319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033059"/>
            <a:ext cx="9073459" cy="938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4"/>
              </a:lnSpc>
            </a:pPr>
            <a:r>
              <a:rPr lang="en-US" sz="363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THE</a:t>
            </a:r>
          </a:p>
          <a:p>
            <a:pPr marL="0" lvl="0" indent="0" algn="l">
              <a:lnSpc>
                <a:spcPts val="3634"/>
              </a:lnSpc>
            </a:pPr>
            <a:r>
              <a:rPr lang="en-US" sz="363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833719"/>
            <a:ext cx="6452131" cy="938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4"/>
              </a:lnSpc>
            </a:pPr>
            <a:r>
              <a:rPr lang="en-US" sz="3634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INCIDENT RESPONSE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7518" y="1961716"/>
            <a:ext cx="2458596" cy="198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599" b="1" i="1" u="none" strike="noStrike" dirty="0">
                <a:solidFill>
                  <a:srgbClr val="FFFFF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WHY DOES PRODUCTION STILL WAKE ENGINEERS AT 2 AM?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45009" y="4772025"/>
            <a:ext cx="406501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</a:pPr>
            <a:r>
              <a:rPr lang="en-US" sz="2499" spc="-2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INCIDENT FLOW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5009" y="5605295"/>
            <a:ext cx="4065018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9"/>
              </a:lnSpc>
            </a:pPr>
            <a:r>
              <a:rPr lang="en-US" sz="2299" spc="-2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Incident Happens → Engineer Gets Paged → Search Logs → Search Old Incidents → Read Runbooks → Try Fixes → System Recovers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45009" y="5191763"/>
            <a:ext cx="40650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PROBLEMS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38374" y="8215145"/>
            <a:ext cx="4065018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❌ Slow response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❌ Human dependency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❌ Knowledge scattered</a:t>
            </a:r>
          </a:p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❌ Repeated incidents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38374" y="7796045"/>
            <a:ext cx="406501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399" spc="-2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KEY PAIN POINTS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226791" y="1094529"/>
            <a:ext cx="2458596" cy="71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6"/>
              </a:lnSpc>
            </a:pPr>
            <a:r>
              <a:rPr lang="en-US" sz="2776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SALFORD &amp; 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49762" y="4848969"/>
            <a:ext cx="8309538" cy="4409331"/>
            <a:chOff x="0" y="0"/>
            <a:chExt cx="1754646" cy="931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4646" cy="931071"/>
            </a:xfrm>
            <a:custGeom>
              <a:avLst/>
              <a:gdLst/>
              <a:ahLst/>
              <a:cxnLst/>
              <a:rect l="l" t="t" r="r" b="b"/>
              <a:pathLst>
                <a:path w="1754646" h="931071">
                  <a:moveTo>
                    <a:pt x="965120" y="794761"/>
                  </a:moveTo>
                  <a:cubicBezTo>
                    <a:pt x="983327" y="774408"/>
                    <a:pt x="1009342" y="762775"/>
                    <a:pt x="1036650" y="762775"/>
                  </a:cubicBezTo>
                  <a:lnTo>
                    <a:pt x="1668381" y="763110"/>
                  </a:lnTo>
                  <a:cubicBezTo>
                    <a:pt x="1691256" y="763123"/>
                    <a:pt x="1713198" y="754044"/>
                    <a:pt x="1729377" y="737874"/>
                  </a:cubicBezTo>
                  <a:cubicBezTo>
                    <a:pt x="1745556" y="721704"/>
                    <a:pt x="1754646" y="699767"/>
                    <a:pt x="1754646" y="676892"/>
                  </a:cubicBezTo>
                  <a:lnTo>
                    <a:pt x="1754646" y="86219"/>
                  </a:lnTo>
                  <a:cubicBezTo>
                    <a:pt x="1754646" y="63352"/>
                    <a:pt x="1745562" y="41422"/>
                    <a:pt x="1729393" y="25253"/>
                  </a:cubicBezTo>
                  <a:cubicBezTo>
                    <a:pt x="1713224" y="9084"/>
                    <a:pt x="1691294" y="0"/>
                    <a:pt x="1668427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844859"/>
                  </a:lnTo>
                  <a:cubicBezTo>
                    <a:pt x="4" y="892474"/>
                    <a:pt x="38604" y="931071"/>
                    <a:pt x="86219" y="931071"/>
                  </a:cubicBezTo>
                  <a:lnTo>
                    <a:pt x="804624" y="931071"/>
                  </a:lnTo>
                  <a:cubicBezTo>
                    <a:pt x="829157" y="931072"/>
                    <a:pt x="852529" y="920621"/>
                    <a:pt x="868886" y="902336"/>
                  </a:cubicBezTo>
                  <a:close/>
                </a:path>
              </a:pathLst>
            </a:custGeom>
            <a:blipFill>
              <a:blip r:embed="rId2"/>
              <a:stretch>
                <a:fillRect t="-5122" b="-51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028700"/>
            <a:ext cx="5995451" cy="6336385"/>
            <a:chOff x="0" y="0"/>
            <a:chExt cx="1484706" cy="15691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4706" cy="1569133"/>
            </a:xfrm>
            <a:custGeom>
              <a:avLst/>
              <a:gdLst/>
              <a:ahLst/>
              <a:cxnLst/>
              <a:rect l="l" t="t" r="r" b="b"/>
              <a:pathLst>
                <a:path w="1484706" h="1569133">
                  <a:moveTo>
                    <a:pt x="1379836" y="0"/>
                  </a:moveTo>
                  <a:lnTo>
                    <a:pt x="104870" y="0"/>
                  </a:lnTo>
                  <a:cubicBezTo>
                    <a:pt x="46952" y="0"/>
                    <a:pt x="0" y="46952"/>
                    <a:pt x="0" y="104870"/>
                  </a:cubicBezTo>
                  <a:lnTo>
                    <a:pt x="0" y="464773"/>
                  </a:lnTo>
                  <a:lnTo>
                    <a:pt x="0" y="1464263"/>
                  </a:lnTo>
                  <a:cubicBezTo>
                    <a:pt x="1" y="1522181"/>
                    <a:pt x="46952" y="1569133"/>
                    <a:pt x="104870" y="1569133"/>
                  </a:cubicBezTo>
                  <a:lnTo>
                    <a:pt x="905328" y="1569133"/>
                  </a:lnTo>
                  <a:cubicBezTo>
                    <a:pt x="963246" y="1569133"/>
                    <a:pt x="1010198" y="1522182"/>
                    <a:pt x="1010199" y="1464264"/>
                  </a:cubicBezTo>
                  <a:lnTo>
                    <a:pt x="1010199" y="569643"/>
                  </a:lnTo>
                  <a:cubicBezTo>
                    <a:pt x="1010198" y="541830"/>
                    <a:pt x="1021247" y="515156"/>
                    <a:pt x="1040914" y="495488"/>
                  </a:cubicBezTo>
                  <a:cubicBezTo>
                    <a:pt x="1060581" y="475821"/>
                    <a:pt x="1087255" y="464773"/>
                    <a:pt x="1115069" y="464773"/>
                  </a:cubicBezTo>
                  <a:lnTo>
                    <a:pt x="1379836" y="464773"/>
                  </a:lnTo>
                  <a:cubicBezTo>
                    <a:pt x="1437754" y="464772"/>
                    <a:pt x="1484705" y="417821"/>
                    <a:pt x="1484706" y="359903"/>
                  </a:cubicBezTo>
                  <a:lnTo>
                    <a:pt x="1484706" y="104870"/>
                  </a:lnTo>
                  <a:cubicBezTo>
                    <a:pt x="1484706" y="46952"/>
                    <a:pt x="1437754" y="0"/>
                    <a:pt x="1379836" y="0"/>
                  </a:cubicBezTo>
                  <a:close/>
                </a:path>
              </a:pathLst>
            </a:custGeom>
            <a:blipFill>
              <a:blip r:embed="rId3"/>
              <a:stretch>
                <a:fillRect l="-2" r="-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641651" y="3448728"/>
            <a:ext cx="2542243" cy="3916357"/>
            <a:chOff x="0" y="0"/>
            <a:chExt cx="669562" cy="1031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9562" cy="1031469"/>
            </a:xfrm>
            <a:custGeom>
              <a:avLst/>
              <a:gdLst/>
              <a:ahLst/>
              <a:cxnLst/>
              <a:rect l="l" t="t" r="r" b="b"/>
              <a:pathLst>
                <a:path w="669562" h="1031469">
                  <a:moveTo>
                    <a:pt x="106586" y="0"/>
                  </a:moveTo>
                  <a:lnTo>
                    <a:pt x="562976" y="0"/>
                  </a:lnTo>
                  <a:cubicBezTo>
                    <a:pt x="591244" y="0"/>
                    <a:pt x="618355" y="11230"/>
                    <a:pt x="638344" y="31218"/>
                  </a:cubicBezTo>
                  <a:cubicBezTo>
                    <a:pt x="658332" y="51207"/>
                    <a:pt x="669562" y="78318"/>
                    <a:pt x="669562" y="106586"/>
                  </a:cubicBezTo>
                  <a:lnTo>
                    <a:pt x="669562" y="924883"/>
                  </a:lnTo>
                  <a:cubicBezTo>
                    <a:pt x="669562" y="983748"/>
                    <a:pt x="621842" y="1031469"/>
                    <a:pt x="562976" y="1031469"/>
                  </a:cubicBezTo>
                  <a:lnTo>
                    <a:pt x="106586" y="1031469"/>
                  </a:lnTo>
                  <a:cubicBezTo>
                    <a:pt x="47720" y="1031469"/>
                    <a:pt x="0" y="983748"/>
                    <a:pt x="0" y="924883"/>
                  </a:cubicBezTo>
                  <a:lnTo>
                    <a:pt x="0" y="106586"/>
                  </a:lnTo>
                  <a:cubicBezTo>
                    <a:pt x="0" y="47720"/>
                    <a:pt x="47720" y="0"/>
                    <a:pt x="106586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669562" cy="1012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65790" y="3688271"/>
            <a:ext cx="2093965" cy="3437271"/>
            <a:chOff x="0" y="0"/>
            <a:chExt cx="324410" cy="5325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4410" cy="532523"/>
            </a:xfrm>
            <a:custGeom>
              <a:avLst/>
              <a:gdLst/>
              <a:ahLst/>
              <a:cxnLst/>
              <a:rect l="l" t="t" r="r" b="b"/>
              <a:pathLst>
                <a:path w="324410" h="532523">
                  <a:moveTo>
                    <a:pt x="162205" y="0"/>
                  </a:moveTo>
                  <a:lnTo>
                    <a:pt x="162205" y="0"/>
                  </a:lnTo>
                  <a:cubicBezTo>
                    <a:pt x="205224" y="0"/>
                    <a:pt x="246482" y="17089"/>
                    <a:pt x="276901" y="47509"/>
                  </a:cubicBezTo>
                  <a:cubicBezTo>
                    <a:pt x="307321" y="77928"/>
                    <a:pt x="324410" y="119186"/>
                    <a:pt x="324410" y="162205"/>
                  </a:cubicBezTo>
                  <a:lnTo>
                    <a:pt x="324410" y="370318"/>
                  </a:lnTo>
                  <a:cubicBezTo>
                    <a:pt x="324410" y="413338"/>
                    <a:pt x="307321" y="454595"/>
                    <a:pt x="276901" y="485014"/>
                  </a:cubicBezTo>
                  <a:cubicBezTo>
                    <a:pt x="246482" y="515434"/>
                    <a:pt x="205224" y="532523"/>
                    <a:pt x="162205" y="532523"/>
                  </a:cubicBezTo>
                  <a:lnTo>
                    <a:pt x="162205" y="532523"/>
                  </a:lnTo>
                  <a:cubicBezTo>
                    <a:pt x="119186" y="532523"/>
                    <a:pt x="77928" y="515434"/>
                    <a:pt x="47509" y="485014"/>
                  </a:cubicBezTo>
                  <a:cubicBezTo>
                    <a:pt x="17089" y="454595"/>
                    <a:pt x="0" y="413338"/>
                    <a:pt x="0" y="370318"/>
                  </a:cubicBezTo>
                  <a:lnTo>
                    <a:pt x="0" y="162205"/>
                  </a:lnTo>
                  <a:cubicBezTo>
                    <a:pt x="0" y="119186"/>
                    <a:pt x="17089" y="77928"/>
                    <a:pt x="47509" y="47509"/>
                  </a:cubicBezTo>
                  <a:cubicBezTo>
                    <a:pt x="77928" y="17089"/>
                    <a:pt x="119186" y="0"/>
                    <a:pt x="162205" y="0"/>
                  </a:cubicBezTo>
                  <a:close/>
                </a:path>
              </a:pathLst>
            </a:custGeom>
            <a:blipFill>
              <a:blip r:embed="rId4"/>
              <a:stretch>
                <a:fillRect t="-76" b="-7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8949762" y="3129682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0"/>
                </a:moveTo>
                <a:lnTo>
                  <a:pt x="319046" y="0"/>
                </a:lnTo>
                <a:lnTo>
                  <a:pt x="319046" y="319046"/>
                </a:lnTo>
                <a:lnTo>
                  <a:pt x="0" y="319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8100721"/>
            <a:ext cx="4612951" cy="69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7"/>
              </a:lnSpc>
            </a:pPr>
            <a:r>
              <a:rPr lang="en-US" sz="5277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AI SRE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733465"/>
            <a:ext cx="7921062" cy="69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7"/>
              </a:lnSpc>
            </a:pPr>
            <a:r>
              <a:rPr lang="en-US" sz="5277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8704" y="1423080"/>
            <a:ext cx="367706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9"/>
              </a:lnSpc>
            </a:pPr>
            <a:r>
              <a:rPr lang="en-US" sz="1899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Logs + Alerts → AI Triage Agent → AI Diagnostic Agent → Memory (RAG) → Action Agent → 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8704" y="881494"/>
            <a:ext cx="245137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9"/>
              </a:lnSpc>
            </a:pPr>
            <a:r>
              <a:rPr lang="en-US" sz="2299" spc="-2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5970" y="914831"/>
            <a:ext cx="269091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999" b="1" i="1" u="none" strike="noStrike">
                <a:solidFill>
                  <a:srgbClr val="FFFFF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OUR 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41482" y="1362075"/>
            <a:ext cx="2984263" cy="138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7"/>
              </a:lnSpc>
            </a:pPr>
            <a:r>
              <a:rPr lang="en-US" sz="1855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✅ First-response automation</a:t>
            </a:r>
          </a:p>
          <a:p>
            <a:pPr marL="0" lvl="0" indent="0" algn="l">
              <a:lnSpc>
                <a:spcPts val="2227"/>
              </a:lnSpc>
            </a:pPr>
            <a:r>
              <a:rPr lang="en-US" sz="1855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✅ Local reasoning</a:t>
            </a:r>
          </a:p>
          <a:p>
            <a:pPr marL="0" lvl="0" indent="0" algn="l">
              <a:lnSpc>
                <a:spcPts val="2227"/>
              </a:lnSpc>
            </a:pPr>
            <a:r>
              <a:rPr lang="en-US" sz="1855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✅ Knowledge reuse</a:t>
            </a:r>
          </a:p>
          <a:p>
            <a:pPr marL="0" lvl="0" indent="0" algn="l">
              <a:lnSpc>
                <a:spcPts val="2227"/>
              </a:lnSpc>
            </a:pPr>
            <a:r>
              <a:rPr lang="en-US" sz="1855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✅ Safe recovery actions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541482" y="881494"/>
            <a:ext cx="245137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KEY BENEFITS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8704" y="3167740"/>
            <a:ext cx="367706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Receives alerts and logs, classifies incident severity, and routes to diagnostic pipeline automatically.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8704" y="2798047"/>
            <a:ext cx="245137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AI TRIAGE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06614" y="3167740"/>
            <a:ext cx="2853999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79"/>
              </a:lnSpc>
            </a:pPr>
            <a:r>
              <a:rPr lang="en-US" sz="1899" spc="-1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RAG-based memory retrieves past incidents. Action Agent executes safe, validated recovery steps.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06614" y="2798047"/>
            <a:ext cx="285399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MEMORY + ACTION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80471" y="9070307"/>
            <a:ext cx="2507869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AMD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77515"/>
            <a:ext cx="6518290" cy="5880785"/>
            <a:chOff x="0" y="0"/>
            <a:chExt cx="1716751" cy="15488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6751" cy="1548849"/>
            </a:xfrm>
            <a:custGeom>
              <a:avLst/>
              <a:gdLst/>
              <a:ahLst/>
              <a:cxnLst/>
              <a:rect l="l" t="t" r="r" b="b"/>
              <a:pathLst>
                <a:path w="1716751" h="1548849">
                  <a:moveTo>
                    <a:pt x="41570" y="0"/>
                  </a:moveTo>
                  <a:lnTo>
                    <a:pt x="1675181" y="0"/>
                  </a:lnTo>
                  <a:cubicBezTo>
                    <a:pt x="1698140" y="0"/>
                    <a:pt x="1716751" y="18612"/>
                    <a:pt x="1716751" y="41570"/>
                  </a:cubicBezTo>
                  <a:lnTo>
                    <a:pt x="1716751" y="1507278"/>
                  </a:lnTo>
                  <a:cubicBezTo>
                    <a:pt x="1716751" y="1518304"/>
                    <a:pt x="1712371" y="1528877"/>
                    <a:pt x="1704576" y="1536673"/>
                  </a:cubicBezTo>
                  <a:cubicBezTo>
                    <a:pt x="1696780" y="1544469"/>
                    <a:pt x="1686206" y="1548849"/>
                    <a:pt x="1675181" y="1548849"/>
                  </a:cubicBezTo>
                  <a:lnTo>
                    <a:pt x="41570" y="1548849"/>
                  </a:lnTo>
                  <a:cubicBezTo>
                    <a:pt x="30545" y="1548849"/>
                    <a:pt x="19972" y="1544469"/>
                    <a:pt x="12176" y="1536673"/>
                  </a:cubicBezTo>
                  <a:cubicBezTo>
                    <a:pt x="4380" y="1528877"/>
                    <a:pt x="0" y="1518304"/>
                    <a:pt x="0" y="1507278"/>
                  </a:cubicBezTo>
                  <a:lnTo>
                    <a:pt x="0" y="41570"/>
                  </a:lnTo>
                  <a:cubicBezTo>
                    <a:pt x="0" y="30545"/>
                    <a:pt x="4380" y="19972"/>
                    <a:pt x="12176" y="12176"/>
                  </a:cubicBezTo>
                  <a:cubicBezTo>
                    <a:pt x="19972" y="4380"/>
                    <a:pt x="30545" y="0"/>
                    <a:pt x="41570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716751" cy="152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64543" y="3377515"/>
            <a:ext cx="4779457" cy="5880785"/>
            <a:chOff x="0" y="0"/>
            <a:chExt cx="1133040" cy="13941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3040" cy="1394126"/>
            </a:xfrm>
            <a:custGeom>
              <a:avLst/>
              <a:gdLst/>
              <a:ahLst/>
              <a:cxnLst/>
              <a:rect l="l" t="t" r="r" b="b"/>
              <a:pathLst>
                <a:path w="1133040" h="1394126">
                  <a:moveTo>
                    <a:pt x="639418" y="88095"/>
                  </a:moveTo>
                  <a:lnTo>
                    <a:pt x="639418" y="246210"/>
                  </a:lnTo>
                  <a:cubicBezTo>
                    <a:pt x="639418" y="267140"/>
                    <a:pt x="631966" y="287386"/>
                    <a:pt x="618397" y="303322"/>
                  </a:cubicBezTo>
                  <a:lnTo>
                    <a:pt x="450704" y="500263"/>
                  </a:lnTo>
                  <a:cubicBezTo>
                    <a:pt x="433967" y="519922"/>
                    <a:pt x="409449" y="531250"/>
                    <a:pt x="383630" y="531251"/>
                  </a:cubicBezTo>
                  <a:lnTo>
                    <a:pt x="88095" y="531251"/>
                  </a:lnTo>
                  <a:cubicBezTo>
                    <a:pt x="39444" y="531251"/>
                    <a:pt x="4" y="570689"/>
                    <a:pt x="0" y="619340"/>
                  </a:cubicBezTo>
                  <a:lnTo>
                    <a:pt x="0" y="1306032"/>
                  </a:lnTo>
                  <a:cubicBezTo>
                    <a:pt x="1" y="1354685"/>
                    <a:pt x="39442" y="1394126"/>
                    <a:pt x="88095" y="1394126"/>
                  </a:cubicBezTo>
                  <a:lnTo>
                    <a:pt x="1044945" y="1394126"/>
                  </a:lnTo>
                  <a:cubicBezTo>
                    <a:pt x="1093598" y="1394126"/>
                    <a:pt x="1133039" y="1354685"/>
                    <a:pt x="1133040" y="1306032"/>
                  </a:cubicBezTo>
                  <a:lnTo>
                    <a:pt x="1133040" y="88095"/>
                  </a:lnTo>
                  <a:cubicBezTo>
                    <a:pt x="1133040" y="64731"/>
                    <a:pt x="1123759" y="42323"/>
                    <a:pt x="1107238" y="25802"/>
                  </a:cubicBezTo>
                  <a:cubicBezTo>
                    <a:pt x="1090717" y="9281"/>
                    <a:pt x="1068310" y="0"/>
                    <a:pt x="1044945" y="0"/>
                  </a:cubicBezTo>
                  <a:lnTo>
                    <a:pt x="727513" y="0"/>
                  </a:lnTo>
                  <a:cubicBezTo>
                    <a:pt x="678860" y="0"/>
                    <a:pt x="639418" y="39441"/>
                    <a:pt x="639418" y="88095"/>
                  </a:cubicBezTo>
                  <a:close/>
                </a:path>
              </a:pathLst>
            </a:custGeom>
            <a:blipFill>
              <a:blip r:embed="rId2"/>
              <a:stretch>
                <a:fillRect l="-16599" r="-1659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52186" y="5624850"/>
            <a:ext cx="2355157" cy="3268404"/>
            <a:chOff x="0" y="0"/>
            <a:chExt cx="364875" cy="5063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875" cy="506361"/>
            </a:xfrm>
            <a:custGeom>
              <a:avLst/>
              <a:gdLst/>
              <a:ahLst/>
              <a:cxnLst/>
              <a:rect l="l" t="t" r="r" b="b"/>
              <a:pathLst>
                <a:path w="364875" h="506361">
                  <a:moveTo>
                    <a:pt x="147925" y="0"/>
                  </a:moveTo>
                  <a:lnTo>
                    <a:pt x="216951" y="0"/>
                  </a:lnTo>
                  <a:cubicBezTo>
                    <a:pt x="256183" y="0"/>
                    <a:pt x="293808" y="15585"/>
                    <a:pt x="321549" y="43326"/>
                  </a:cubicBezTo>
                  <a:cubicBezTo>
                    <a:pt x="349291" y="71068"/>
                    <a:pt x="364875" y="108693"/>
                    <a:pt x="364875" y="147925"/>
                  </a:cubicBezTo>
                  <a:lnTo>
                    <a:pt x="364875" y="358436"/>
                  </a:lnTo>
                  <a:cubicBezTo>
                    <a:pt x="364875" y="397669"/>
                    <a:pt x="349291" y="435294"/>
                    <a:pt x="321549" y="463035"/>
                  </a:cubicBezTo>
                  <a:cubicBezTo>
                    <a:pt x="293808" y="490776"/>
                    <a:pt x="256183" y="506361"/>
                    <a:pt x="216951" y="506361"/>
                  </a:cubicBezTo>
                  <a:lnTo>
                    <a:pt x="147925" y="506361"/>
                  </a:lnTo>
                  <a:cubicBezTo>
                    <a:pt x="108693" y="506361"/>
                    <a:pt x="71068" y="490776"/>
                    <a:pt x="43326" y="463035"/>
                  </a:cubicBezTo>
                  <a:cubicBezTo>
                    <a:pt x="15585" y="435294"/>
                    <a:pt x="0" y="397669"/>
                    <a:pt x="0" y="358436"/>
                  </a:cubicBezTo>
                  <a:lnTo>
                    <a:pt x="0" y="147925"/>
                  </a:lnTo>
                  <a:cubicBezTo>
                    <a:pt x="0" y="108693"/>
                    <a:pt x="15585" y="71068"/>
                    <a:pt x="43326" y="43326"/>
                  </a:cubicBezTo>
                  <a:cubicBezTo>
                    <a:pt x="71068" y="15585"/>
                    <a:pt x="108693" y="0"/>
                    <a:pt x="147925" y="0"/>
                  </a:cubicBezTo>
                  <a:close/>
                </a:path>
              </a:pathLst>
            </a:custGeom>
            <a:blipFill>
              <a:blip r:embed="rId3"/>
              <a:stretch>
                <a:fillRect t="-40" b="-4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410391" y="1015934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0"/>
                </a:moveTo>
                <a:lnTo>
                  <a:pt x="319046" y="0"/>
                </a:lnTo>
                <a:lnTo>
                  <a:pt x="319046" y="319045"/>
                </a:lnTo>
                <a:lnTo>
                  <a:pt x="0" y="319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2186" y="3737474"/>
            <a:ext cx="5519372" cy="87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4"/>
              </a:lnSpc>
            </a:pPr>
            <a:r>
              <a:rPr lang="en-US" sz="651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2186" y="4467100"/>
            <a:ext cx="4977129" cy="87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4"/>
              </a:lnSpc>
            </a:pPr>
            <a:r>
              <a:rPr lang="en-US" sz="6514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ARCH.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24918" y="403769"/>
            <a:ext cx="6019358" cy="8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1"/>
              </a:lnSpc>
              <a:spcBef>
                <a:spcPct val="0"/>
              </a:spcBef>
            </a:pPr>
            <a:r>
              <a:rPr lang="en-US" sz="2784" b="1" i="1" u="none" strike="noStrike">
                <a:solidFill>
                  <a:srgbClr val="FFFFF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SYSTEM ARCHITECTURE — THE MOST IMPORTANT SLIDE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4918" y="2312403"/>
            <a:ext cx="6365986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Logs, metrics, and alerts are continuously collected from the production environment and streamed into the AI agent pipeline for real-time processing.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24918" y="1909242"/>
            <a:ext cx="453404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9" spc="-2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PRODUCTION ENVIRONMENT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5525" y="1991288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4918" y="4106044"/>
            <a:ext cx="636598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Local agentic AI performs autonomous triage, classifies incident severity, and runs diagnostic routines using on-device LLM reasoning — no cloud dependency.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4918" y="3705994"/>
            <a:ext cx="527889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9" spc="-2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AI TRIAGE &amp; DIAGNOSTIC AGENTS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5525" y="3780336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24918" y="6210765"/>
            <a:ext cx="636598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Retrieval-Augmented Generation indexes past incidents, runbooks, and fix patterns. The agent queries this knowledge base to inform every decision it makes.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4918" y="5839290"/>
            <a:ext cx="338655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8"/>
              </a:lnSpc>
            </a:pPr>
            <a:r>
              <a:rPr lang="en-US" sz="1999" spc="-1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MEMORY LAYER (RAG)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1200" y="5839290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24918" y="8407465"/>
            <a:ext cx="6365986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8"/>
              </a:lnSpc>
            </a:pPr>
            <a:r>
              <a:rPr lang="en-US" sz="2298" spc="-2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Safe, validated recovery actions are executed autonomously. All decisions, steps, and outcomes are surfaced in a real-time dashboard for full observability.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24918" y="8007415"/>
            <a:ext cx="527889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9" spc="-2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ACTION AGENT &amp;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85954" y="8016940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1044509"/>
            <a:ext cx="2507869" cy="17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9"/>
              </a:lnSpc>
            </a:pPr>
            <a:r>
              <a:rPr lang="en-US" sz="1399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AI SRE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77515"/>
            <a:ext cx="6518290" cy="5880785"/>
            <a:chOff x="0" y="0"/>
            <a:chExt cx="1716751" cy="15488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6751" cy="1548849"/>
            </a:xfrm>
            <a:custGeom>
              <a:avLst/>
              <a:gdLst/>
              <a:ahLst/>
              <a:cxnLst/>
              <a:rect l="l" t="t" r="r" b="b"/>
              <a:pathLst>
                <a:path w="1716751" h="1548849">
                  <a:moveTo>
                    <a:pt x="41570" y="0"/>
                  </a:moveTo>
                  <a:lnTo>
                    <a:pt x="1675181" y="0"/>
                  </a:lnTo>
                  <a:cubicBezTo>
                    <a:pt x="1698140" y="0"/>
                    <a:pt x="1716751" y="18612"/>
                    <a:pt x="1716751" y="41570"/>
                  </a:cubicBezTo>
                  <a:lnTo>
                    <a:pt x="1716751" y="1507278"/>
                  </a:lnTo>
                  <a:cubicBezTo>
                    <a:pt x="1716751" y="1518304"/>
                    <a:pt x="1712371" y="1528877"/>
                    <a:pt x="1704576" y="1536673"/>
                  </a:cubicBezTo>
                  <a:cubicBezTo>
                    <a:pt x="1696780" y="1544469"/>
                    <a:pt x="1686206" y="1548849"/>
                    <a:pt x="1675181" y="1548849"/>
                  </a:cubicBezTo>
                  <a:lnTo>
                    <a:pt x="41570" y="1548849"/>
                  </a:lnTo>
                  <a:cubicBezTo>
                    <a:pt x="30545" y="1548849"/>
                    <a:pt x="19972" y="1544469"/>
                    <a:pt x="12176" y="1536673"/>
                  </a:cubicBezTo>
                  <a:cubicBezTo>
                    <a:pt x="4380" y="1528877"/>
                    <a:pt x="0" y="1518304"/>
                    <a:pt x="0" y="1507278"/>
                  </a:cubicBezTo>
                  <a:lnTo>
                    <a:pt x="0" y="41570"/>
                  </a:lnTo>
                  <a:cubicBezTo>
                    <a:pt x="0" y="30545"/>
                    <a:pt x="4380" y="19972"/>
                    <a:pt x="12176" y="12176"/>
                  </a:cubicBezTo>
                  <a:cubicBezTo>
                    <a:pt x="19972" y="4380"/>
                    <a:pt x="30545" y="0"/>
                    <a:pt x="41570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716751" cy="152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64543" y="3377515"/>
            <a:ext cx="4779457" cy="5880785"/>
            <a:chOff x="0" y="0"/>
            <a:chExt cx="1133040" cy="13941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3040" cy="1394126"/>
            </a:xfrm>
            <a:custGeom>
              <a:avLst/>
              <a:gdLst/>
              <a:ahLst/>
              <a:cxnLst/>
              <a:rect l="l" t="t" r="r" b="b"/>
              <a:pathLst>
                <a:path w="1133040" h="1394126">
                  <a:moveTo>
                    <a:pt x="639418" y="88095"/>
                  </a:moveTo>
                  <a:lnTo>
                    <a:pt x="639418" y="246210"/>
                  </a:lnTo>
                  <a:cubicBezTo>
                    <a:pt x="639418" y="267140"/>
                    <a:pt x="631966" y="287386"/>
                    <a:pt x="618397" y="303322"/>
                  </a:cubicBezTo>
                  <a:lnTo>
                    <a:pt x="450704" y="500263"/>
                  </a:lnTo>
                  <a:cubicBezTo>
                    <a:pt x="433967" y="519922"/>
                    <a:pt x="409449" y="531250"/>
                    <a:pt x="383630" y="531251"/>
                  </a:cubicBezTo>
                  <a:lnTo>
                    <a:pt x="88095" y="531251"/>
                  </a:lnTo>
                  <a:cubicBezTo>
                    <a:pt x="39444" y="531251"/>
                    <a:pt x="4" y="570689"/>
                    <a:pt x="0" y="619340"/>
                  </a:cubicBezTo>
                  <a:lnTo>
                    <a:pt x="0" y="1306032"/>
                  </a:lnTo>
                  <a:cubicBezTo>
                    <a:pt x="1" y="1354685"/>
                    <a:pt x="39442" y="1394126"/>
                    <a:pt x="88095" y="1394126"/>
                  </a:cubicBezTo>
                  <a:lnTo>
                    <a:pt x="1044945" y="1394126"/>
                  </a:lnTo>
                  <a:cubicBezTo>
                    <a:pt x="1093598" y="1394126"/>
                    <a:pt x="1133039" y="1354685"/>
                    <a:pt x="1133040" y="1306032"/>
                  </a:cubicBezTo>
                  <a:lnTo>
                    <a:pt x="1133040" y="88095"/>
                  </a:lnTo>
                  <a:cubicBezTo>
                    <a:pt x="1133040" y="64731"/>
                    <a:pt x="1123759" y="42323"/>
                    <a:pt x="1107238" y="25802"/>
                  </a:cubicBezTo>
                  <a:cubicBezTo>
                    <a:pt x="1090717" y="9281"/>
                    <a:pt x="1068310" y="0"/>
                    <a:pt x="1044945" y="0"/>
                  </a:cubicBezTo>
                  <a:lnTo>
                    <a:pt x="727513" y="0"/>
                  </a:lnTo>
                  <a:cubicBezTo>
                    <a:pt x="678860" y="0"/>
                    <a:pt x="639418" y="39441"/>
                    <a:pt x="639418" y="88095"/>
                  </a:cubicBezTo>
                  <a:close/>
                </a:path>
              </a:pathLst>
            </a:custGeom>
            <a:blipFill>
              <a:blip r:embed="rId2"/>
              <a:stretch>
                <a:fillRect l="-16599" r="-1659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52186" y="5624850"/>
            <a:ext cx="2355157" cy="3268404"/>
            <a:chOff x="0" y="0"/>
            <a:chExt cx="364875" cy="5063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875" cy="506361"/>
            </a:xfrm>
            <a:custGeom>
              <a:avLst/>
              <a:gdLst/>
              <a:ahLst/>
              <a:cxnLst/>
              <a:rect l="l" t="t" r="r" b="b"/>
              <a:pathLst>
                <a:path w="364875" h="506361">
                  <a:moveTo>
                    <a:pt x="147925" y="0"/>
                  </a:moveTo>
                  <a:lnTo>
                    <a:pt x="216951" y="0"/>
                  </a:lnTo>
                  <a:cubicBezTo>
                    <a:pt x="256183" y="0"/>
                    <a:pt x="293808" y="15585"/>
                    <a:pt x="321549" y="43326"/>
                  </a:cubicBezTo>
                  <a:cubicBezTo>
                    <a:pt x="349291" y="71068"/>
                    <a:pt x="364875" y="108693"/>
                    <a:pt x="364875" y="147925"/>
                  </a:cubicBezTo>
                  <a:lnTo>
                    <a:pt x="364875" y="358436"/>
                  </a:lnTo>
                  <a:cubicBezTo>
                    <a:pt x="364875" y="397669"/>
                    <a:pt x="349291" y="435294"/>
                    <a:pt x="321549" y="463035"/>
                  </a:cubicBezTo>
                  <a:cubicBezTo>
                    <a:pt x="293808" y="490776"/>
                    <a:pt x="256183" y="506361"/>
                    <a:pt x="216951" y="506361"/>
                  </a:cubicBezTo>
                  <a:lnTo>
                    <a:pt x="147925" y="506361"/>
                  </a:lnTo>
                  <a:cubicBezTo>
                    <a:pt x="108693" y="506361"/>
                    <a:pt x="71068" y="490776"/>
                    <a:pt x="43326" y="463035"/>
                  </a:cubicBezTo>
                  <a:cubicBezTo>
                    <a:pt x="15585" y="435294"/>
                    <a:pt x="0" y="397669"/>
                    <a:pt x="0" y="358436"/>
                  </a:cubicBezTo>
                  <a:lnTo>
                    <a:pt x="0" y="147925"/>
                  </a:lnTo>
                  <a:cubicBezTo>
                    <a:pt x="0" y="108693"/>
                    <a:pt x="15585" y="71068"/>
                    <a:pt x="43326" y="43326"/>
                  </a:cubicBezTo>
                  <a:cubicBezTo>
                    <a:pt x="71068" y="15585"/>
                    <a:pt x="108693" y="0"/>
                    <a:pt x="147925" y="0"/>
                  </a:cubicBezTo>
                  <a:close/>
                </a:path>
              </a:pathLst>
            </a:custGeom>
            <a:blipFill>
              <a:blip r:embed="rId3"/>
              <a:stretch>
                <a:fillRect t="-40" b="-4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410391" y="1015934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0"/>
                </a:moveTo>
                <a:lnTo>
                  <a:pt x="319046" y="0"/>
                </a:lnTo>
                <a:lnTo>
                  <a:pt x="319046" y="319045"/>
                </a:lnTo>
                <a:lnTo>
                  <a:pt x="0" y="319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2186" y="3737474"/>
            <a:ext cx="5519372" cy="87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4"/>
              </a:lnSpc>
            </a:pPr>
            <a:r>
              <a:rPr lang="en-US" sz="651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LOCAL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2186" y="4467100"/>
            <a:ext cx="4977129" cy="87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4"/>
              </a:lnSpc>
            </a:pPr>
            <a:r>
              <a:rPr lang="en-US" sz="6514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24918" y="403769"/>
            <a:ext cx="6019358" cy="8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1"/>
              </a:lnSpc>
              <a:spcBef>
                <a:spcPct val="0"/>
              </a:spcBef>
            </a:pPr>
            <a:r>
              <a:rPr lang="en-US" sz="2784" b="1" i="1" u="none" strike="noStrike">
                <a:solidFill>
                  <a:srgbClr val="FFFFFF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WHY LOCAL AI? KEY 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24918" y="2450000"/>
            <a:ext cx="6365986" cy="1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All production logs and sensitive data remain within your infrastructure. Local AI processing ensures complete data sovereignty — no information is transmitted to external servers or third-party cloud providers.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24918" y="1650000"/>
            <a:ext cx="6365986" cy="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9" spc="-2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DATA NEVER LEAVES THE ORGANIZATION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5525" y="1650000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4918" y="5133000"/>
            <a:ext cx="6365986" cy="1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Local LLM inference eliminates round-trip network calls to cloud APIs. Processing happens on-premises, delivering faster response times critical for real-time production environments and time-sensitive operations.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4918" y="4333000"/>
            <a:ext cx="6365986" cy="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9" spc="-2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LOWER LATENCY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5525" y="4333000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24918" y="8250000"/>
            <a:ext cx="6365986" cy="15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8"/>
              </a:lnSpc>
            </a:pPr>
            <a:r>
              <a:rPr lang="en-US" sz="2199" spc="-2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Local AI operates independently of internet connectivity. Your systems remain fully functional in air-gapped environments, during network outages, or in secure facilities where external connections are restricted.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4918" y="7450000"/>
            <a:ext cx="6365986" cy="6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8"/>
              </a:lnSpc>
            </a:pPr>
            <a:r>
              <a:rPr lang="en-US" sz="1999" spc="-1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WORKS OFFLINE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1200" y="7450000"/>
            <a:ext cx="2447824" cy="124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45"/>
              </a:lnSpc>
            </a:pPr>
            <a:r>
              <a:rPr lang="en-US" sz="8287" spc="-8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1044509"/>
            <a:ext cx="2507869" cy="17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99"/>
              </a:lnSpc>
            </a:pPr>
            <a:r>
              <a:rPr lang="en-US" sz="1399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AI SRE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011545"/>
            <a:ext cx="16230600" cy="4527118"/>
            <a:chOff x="0" y="0"/>
            <a:chExt cx="4274726" cy="11923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192327"/>
            </a:xfrm>
            <a:custGeom>
              <a:avLst/>
              <a:gdLst/>
              <a:ahLst/>
              <a:cxnLst/>
              <a:rect l="l" t="t" r="r" b="b"/>
              <a:pathLst>
                <a:path w="4274726" h="1192327">
                  <a:moveTo>
                    <a:pt x="16695" y="0"/>
                  </a:moveTo>
                  <a:lnTo>
                    <a:pt x="4258031" y="0"/>
                  </a:lnTo>
                  <a:cubicBezTo>
                    <a:pt x="4267252" y="0"/>
                    <a:pt x="4274726" y="7475"/>
                    <a:pt x="4274726" y="16695"/>
                  </a:cubicBezTo>
                  <a:lnTo>
                    <a:pt x="4274726" y="1175633"/>
                  </a:lnTo>
                  <a:cubicBezTo>
                    <a:pt x="4274726" y="1180060"/>
                    <a:pt x="4272967" y="1184307"/>
                    <a:pt x="4269836" y="1187438"/>
                  </a:cubicBezTo>
                  <a:cubicBezTo>
                    <a:pt x="4266705" y="1190568"/>
                    <a:pt x="4262459" y="1192327"/>
                    <a:pt x="4258031" y="1192327"/>
                  </a:cubicBezTo>
                  <a:lnTo>
                    <a:pt x="16695" y="1192327"/>
                  </a:lnTo>
                  <a:cubicBezTo>
                    <a:pt x="12267" y="1192327"/>
                    <a:pt x="8021" y="1190568"/>
                    <a:pt x="4890" y="1187438"/>
                  </a:cubicBezTo>
                  <a:cubicBezTo>
                    <a:pt x="1759" y="1184307"/>
                    <a:pt x="0" y="1180060"/>
                    <a:pt x="0" y="1175633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73737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274726" cy="1173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4627" y="4197871"/>
            <a:ext cx="9518745" cy="4154467"/>
            <a:chOff x="0" y="0"/>
            <a:chExt cx="1939098" cy="846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9098" cy="846328"/>
            </a:xfrm>
            <a:custGeom>
              <a:avLst/>
              <a:gdLst/>
              <a:ahLst/>
              <a:cxnLst/>
              <a:rect l="l" t="t" r="r" b="b"/>
              <a:pathLst>
                <a:path w="1939098" h="846328">
                  <a:moveTo>
                    <a:pt x="1843500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548408"/>
                  </a:lnTo>
                  <a:cubicBezTo>
                    <a:pt x="0" y="601205"/>
                    <a:pt x="42801" y="644006"/>
                    <a:pt x="95598" y="644006"/>
                  </a:cubicBezTo>
                  <a:lnTo>
                    <a:pt x="204343" y="644006"/>
                  </a:lnTo>
                  <a:cubicBezTo>
                    <a:pt x="231994" y="644005"/>
                    <a:pt x="258291" y="655978"/>
                    <a:pt x="276447" y="676833"/>
                  </a:cubicBezTo>
                  <a:lnTo>
                    <a:pt x="395420" y="813493"/>
                  </a:lnTo>
                  <a:cubicBezTo>
                    <a:pt x="413574" y="834352"/>
                    <a:pt x="439871" y="846327"/>
                    <a:pt x="467524" y="846328"/>
                  </a:cubicBezTo>
                  <a:lnTo>
                    <a:pt x="1471574" y="846328"/>
                  </a:lnTo>
                  <a:cubicBezTo>
                    <a:pt x="1499226" y="846328"/>
                    <a:pt x="1525523" y="834356"/>
                    <a:pt x="1543679" y="813500"/>
                  </a:cubicBezTo>
                  <a:lnTo>
                    <a:pt x="1662650" y="676840"/>
                  </a:lnTo>
                  <a:cubicBezTo>
                    <a:pt x="1680806" y="655984"/>
                    <a:pt x="1707103" y="644012"/>
                    <a:pt x="1734754" y="644012"/>
                  </a:cubicBezTo>
                  <a:lnTo>
                    <a:pt x="1843500" y="644012"/>
                  </a:lnTo>
                  <a:cubicBezTo>
                    <a:pt x="1896298" y="644012"/>
                    <a:pt x="1939098" y="601211"/>
                    <a:pt x="1939098" y="548414"/>
                  </a:cubicBezTo>
                  <a:lnTo>
                    <a:pt x="1939098" y="95598"/>
                  </a:lnTo>
                  <a:cubicBezTo>
                    <a:pt x="1939098" y="42801"/>
                    <a:pt x="1896298" y="0"/>
                    <a:pt x="1843500" y="0"/>
                  </a:cubicBezTo>
                  <a:close/>
                </a:path>
              </a:pathLst>
            </a:custGeom>
            <a:blipFill>
              <a:blip r:embed="rId2"/>
              <a:stretch>
                <a:fillRect t="-119" b="-11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flipV="1">
            <a:off x="2684457" y="6115582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0" y="319045"/>
                </a:moveTo>
                <a:lnTo>
                  <a:pt x="319045" y="319045"/>
                </a:lnTo>
                <a:lnTo>
                  <a:pt x="319045" y="0"/>
                </a:lnTo>
                <a:lnTo>
                  <a:pt x="0" y="0"/>
                </a:lnTo>
                <a:lnTo>
                  <a:pt x="0" y="319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42210" y="1976480"/>
            <a:ext cx="12603580" cy="81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34"/>
              </a:lnSpc>
            </a:pPr>
            <a:r>
              <a:rPr lang="en-US" sz="6134" b="1">
                <a:solidFill>
                  <a:srgbClr val="FFFFFF"/>
                </a:solidFill>
                <a:latin typeface="TT Autonomous Bold"/>
                <a:ea typeface="TT Autonomous Bold"/>
                <a:cs typeface="TT Autonomous Bold"/>
                <a:sym typeface="TT Autonomous Bold"/>
              </a:rPr>
              <a:t>AI SRE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7442" y="2595983"/>
            <a:ext cx="7313116" cy="87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8"/>
              </a:lnSpc>
            </a:pPr>
            <a:r>
              <a:rPr lang="en-US" sz="2278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AUTONOMOUS INCIDENT RESPONSE USING LOCAL AGENTIC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4412" y="1057275"/>
            <a:ext cx="2659177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</a:pPr>
            <a:r>
              <a:rPr lang="en-US" sz="1399">
                <a:solidFill>
                  <a:srgbClr val="FFFFFF"/>
                </a:solidFill>
                <a:latin typeface="TT Autonomous"/>
                <a:ea typeface="TT Autonomous"/>
                <a:cs typeface="TT Autonomous"/>
                <a:sym typeface="TT Autonomous"/>
              </a:rPr>
              <a:t>AMD AGENTIC AI HACKATHON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26869" y="6143787"/>
            <a:ext cx="6424180" cy="33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r>
              <a:rPr lang="en-US" sz="5400" i="1" spc="715" dirty="0">
                <a:solidFill>
                  <a:srgbClr val="FFFFFF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 flipH="1" flipV="1">
            <a:off x="15286267" y="6115582"/>
            <a:ext cx="319046" cy="319046"/>
          </a:xfrm>
          <a:custGeom>
            <a:avLst/>
            <a:gdLst/>
            <a:ahLst/>
            <a:cxnLst/>
            <a:rect l="l" t="t" r="r" b="b"/>
            <a:pathLst>
              <a:path w="319046" h="319046">
                <a:moveTo>
                  <a:pt x="319046" y="319045"/>
                </a:moveTo>
                <a:lnTo>
                  <a:pt x="0" y="319045"/>
                </a:lnTo>
                <a:lnTo>
                  <a:pt x="0" y="0"/>
                </a:lnTo>
                <a:lnTo>
                  <a:pt x="319046" y="0"/>
                </a:lnTo>
                <a:lnTo>
                  <a:pt x="319046" y="319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423</Words>
  <Application>Microsoft Office PowerPoint</Application>
  <PresentationFormat>Custom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TT Autonomous</vt:lpstr>
      <vt:lpstr>Arial</vt:lpstr>
      <vt:lpstr>TT Hoves Italics</vt:lpstr>
      <vt:lpstr>TT Hoves</vt:lpstr>
      <vt:lpstr>TT Autonomous Bold</vt:lpstr>
      <vt:lpstr>TT Hoves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Salford &amp; Co.</dc:title>
  <dc:creator>Ganesh Nair</dc:creator>
  <cp:lastModifiedBy>nairganesh134@gmail.com</cp:lastModifiedBy>
  <cp:revision>3</cp:revision>
  <dcterms:created xsi:type="dcterms:W3CDTF">2006-08-16T00:00:00Z</dcterms:created>
  <dcterms:modified xsi:type="dcterms:W3CDTF">2026-08-06T17:34:26Z</dcterms:modified>
  <dc:identifier>DAHRaJVB6j0</dc:identifier>
</cp:coreProperties>
</file>