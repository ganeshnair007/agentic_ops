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ac0928640c452e" /><Relationship Type="http://schemas.openxmlformats.org/officeDocument/2006/relationships/extended-properties" Target="/docProps/app.xml" Id="R61f72fbb87ff4c32" /><Relationship Type="http://schemas.openxmlformats.org/officeDocument/2006/relationships/officeDocument" Target="/ppt/presentation.xml" Id="R60cf6e38211e4f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47ac4debde4cf1"/>
  </p:sldMasterIdLst>
  <p:notesMasterIdLst>
    <p:notesMasterId xmlns:r="http://schemas.openxmlformats.org/officeDocument/2006/relationships" r:id="R0a396a1050bd4b21"/>
  </p:notesMasterIdLst>
  <p:sldIdLst>
    <p:sldId xmlns:r="http://schemas.openxmlformats.org/officeDocument/2006/relationships" id="256" r:id="R072beea9d10843ca"/>
    <p:sldId xmlns:r="http://schemas.openxmlformats.org/officeDocument/2006/relationships" id="257" r:id="Rf1a522b61db145fa"/>
    <p:sldId xmlns:r="http://schemas.openxmlformats.org/officeDocument/2006/relationships" id="258" r:id="Rbdff3f6a7ad7489f"/>
    <p:sldId xmlns:r="http://schemas.openxmlformats.org/officeDocument/2006/relationships" id="259" r:id="Rf50226624ae54208"/>
    <p:sldId xmlns:r="http://schemas.openxmlformats.org/officeDocument/2006/relationships" id="260" r:id="R6558011c2152473b"/>
    <p:sldId xmlns:r="http://schemas.openxmlformats.org/officeDocument/2006/relationships" id="261" r:id="R85ddcde56c18477c"/>
    <p:sldId xmlns:r="http://schemas.openxmlformats.org/officeDocument/2006/relationships" id="262" r:id="Ra7a63466888840d0"/>
    <p:sldId xmlns:r="http://schemas.openxmlformats.org/officeDocument/2006/relationships" id="263" r:id="R53020d4809c242fa"/>
    <p:sldId xmlns:r="http://schemas.openxmlformats.org/officeDocument/2006/relationships" id="264" r:id="R5bc3fea539ca4b1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ef605ee3264f50" /><Relationship Type="http://schemas.openxmlformats.org/officeDocument/2006/relationships/slideMaster" Target="/ppt/slideMasters/slideMaster1.xml" Id="R7d47ac4debde4cf1" /><Relationship Type="http://schemas.openxmlformats.org/officeDocument/2006/relationships/notesMaster" Target="/ppt/notesMasters/notesMaster1.xml" Id="R0a396a1050bd4b21" /><Relationship Type="http://schemas.openxmlformats.org/officeDocument/2006/relationships/presProps" Target="/ppt/presProps.xml" Id="R86aeb4e55fdb4093" /><Relationship Type="http://schemas.openxmlformats.org/officeDocument/2006/relationships/tableStyles" Target="/ppt/tableStyles.xml" Id="R6d2da64604df4d7e" /><Relationship Type="http://schemas.openxmlformats.org/officeDocument/2006/relationships/slide" Target="/ppt/slides/slide1.xml" Id="R072beea9d10843ca" /><Relationship Type="http://schemas.openxmlformats.org/officeDocument/2006/relationships/slide" Target="/ppt/slides/slide2.xml" Id="Rf1a522b61db145fa" /><Relationship Type="http://schemas.openxmlformats.org/officeDocument/2006/relationships/slide" Target="/ppt/slides/slide3.xml" Id="Rbdff3f6a7ad7489f" /><Relationship Type="http://schemas.openxmlformats.org/officeDocument/2006/relationships/slide" Target="/ppt/slides/slide4.xml" Id="Rf50226624ae54208" /><Relationship Type="http://schemas.openxmlformats.org/officeDocument/2006/relationships/slide" Target="/ppt/slides/slide5.xml" Id="R6558011c2152473b" /><Relationship Type="http://schemas.openxmlformats.org/officeDocument/2006/relationships/slide" Target="/ppt/slides/slide6.xml" Id="R85ddcde56c18477c" /><Relationship Type="http://schemas.openxmlformats.org/officeDocument/2006/relationships/slide" Target="/ppt/slides/slide7.xml" Id="Ra7a63466888840d0" /><Relationship Type="http://schemas.openxmlformats.org/officeDocument/2006/relationships/slide" Target="/ppt/slides/slide8.xml" Id="R53020d4809c242fa" /><Relationship Type="http://schemas.openxmlformats.org/officeDocument/2006/relationships/slide" Target="/ppt/slides/slide9.xml" Id="R5bc3fea539ca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5c64f1c5a546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2ba915960b4dd6" /><Relationship Type="http://schemas.openxmlformats.org/officeDocument/2006/relationships/notesMaster" Target="/ppt/notesMasters/notesMaster1.xml" Id="R0e6837f9baf84d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fcd16c2fda472a" /><Relationship Type="http://schemas.openxmlformats.org/officeDocument/2006/relationships/notesMaster" Target="/ppt/notesMasters/notesMaster1.xml" Id="R4ffe896eae5b44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fc222b2cd449a4" /><Relationship Type="http://schemas.openxmlformats.org/officeDocument/2006/relationships/notesMaster" Target="/ppt/notesMasters/notesMaster1.xml" Id="R05c87988ca9a4f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af366fdf5d43d5" /><Relationship Type="http://schemas.openxmlformats.org/officeDocument/2006/relationships/notesMaster" Target="/ppt/notesMasters/notesMaster1.xml" Id="R0cc6230b8c544a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19792577c44cf2" /><Relationship Type="http://schemas.openxmlformats.org/officeDocument/2006/relationships/notesMaster" Target="/ppt/notesMasters/notesMaster1.xml" Id="R054452444f8b41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9082a375f34b47" /><Relationship Type="http://schemas.openxmlformats.org/officeDocument/2006/relationships/notesMaster" Target="/ppt/notesMasters/notesMaster1.xml" Id="R580d626c22b746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0eae1c705d4f40" /><Relationship Type="http://schemas.openxmlformats.org/officeDocument/2006/relationships/notesMaster" Target="/ppt/notesMasters/notesMaster1.xml" Id="R41c998ee765649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45a0ea129446ac" /><Relationship Type="http://schemas.openxmlformats.org/officeDocument/2006/relationships/notesMaster" Target="/ppt/notesMasters/notesMaster1.xml" Id="Rda0307a441ed4a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e2a9e39ab34576" /><Relationship Type="http://schemas.openxmlformats.org/officeDocument/2006/relationships/notesMaster" Target="/ppt/notesMasters/notesMaster1.xml" Id="R8861fa42321d47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localhost screenshot: 885b09ef-259b-4ee0-b454-683362caa02d.png</a:t>
            </a:r>
          </a:p>
          <a:p xmlns:a="http://schemas.openxmlformats.org/drawingml/2006/main">
            <a:r>
              <a:t>- Repository: https://github.com/GaneshNair007/agentic_ops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fix:</a:t>
            </a:r>
          </a:p>
          <a:p xmlns:a="http://schemas.openxmlformats.org/drawingml/2006/main">
            <a:r>
              <a:t>Replace the hero with a bright, high-resolution web photo of a blue-lit data-centre corridor. Keep the UI black/white. Put copy inside a solid black left panel or a strong local veil; never dim the entire image. Motion: one 600–800px reversible image-mask reveal, not a separate empty scroll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localhost screenshot: 0e66557e-18c2-4ba2-b292-44d008f6e6ea.png</a:t>
            </a:r>
          </a:p>
          <a:p xmlns:a="http://schemas.openxmlformats.org/drawingml/2006/main">
            <a:r>
              <a:t>- Repository: https://github.com/GaneshNair007/agentic_ops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fix:</a:t>
            </a:r>
          </a:p>
          <a:p xmlns:a="http://schemas.openxmlformats.org/drawingml/2006/main">
            <a:r>
              <a:t>This is the first state of one pinned workflow, not a separate section. Use a 45/55 split across 92vw. Body text minimum 18px. Inactive stages remain #5A5A5A, never near-white. Use three different but cohesive web images: alert LEDs, network cables, engineer reviewing a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localhost screenshot: 406e3432-46a2-4d61-a82d-5195264a0bbc.png</a:t>
            </a:r>
          </a:p>
          <a:p xmlns:a="http://schemas.openxmlformats.org/drawingml/2006/main">
            <a:r>
              <a:t>- Repository: https://github.com/GaneshNair007/agentic_ops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fix:</a:t>
            </a:r>
          </a:p>
          <a:p xmlns:a="http://schemas.openxmlformats.org/drawingml/2006/main">
            <a:r>
              <a:t>Merge Scrolls 02 and 03 into one workflow section with three clear internal states. Each state must change headline, body, image and progress position. If a scroll increment does not create a meaningful new state, remove that scroll distance.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localhost screenshot: 9ef6a1ef-d7a4-48e3-a8f3-f725eb14c166.png</a:t>
            </a:r>
          </a:p>
          <a:p xmlns:a="http://schemas.openxmlformats.org/drawingml/2006/main">
            <a:r>
              <a:t>- Repository: https://github.com/GaneshNair007/agentic_ops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fix:</a:t>
            </a:r>
          </a:p>
          <a:p xmlns:a="http://schemas.openxmlformats.org/drawingml/2006/main">
            <a:r>
              <a:t>Use a full-width 40/60 split with 18px controls. The idle output must show five labelled pipeline stages and a subtle real infrastructure image. On run, animate only real returned events. Section height should be content-driven; remove the dead lower half.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localhost screenshot: f738de73-cd7c-4138-b171-2bb46a16f79c.png</a:t>
            </a:r>
          </a:p>
          <a:p xmlns:a="http://schemas.openxmlformats.org/drawingml/2006/main">
            <a:r>
              <a:t>- Repository: https://github.com/GaneshNair007/agentic_ops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fix:</a:t>
            </a:r>
          </a:p>
          <a:p xmlns:a="http://schemas.openxmlformats.org/drawingml/2006/main">
            <a:r>
              <a:t>Replace the texture with a clean white background. Use one large result at a time: 40% bright web image, 60% structured evidence. Show title, type, score, 3-line excerpt and expandable details. Use black/white UI; relevance may use one small photo-derived accent.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localhost screenshot: 0eb45fda-9596-4827-b344-c1b67243424b.png</a:t>
            </a:r>
          </a:p>
          <a:p xmlns:a="http://schemas.openxmlformats.org/drawingml/2006/main">
            <a:r>
              <a:t>- Repository: https://github.com/GaneshNair007/agentic_ops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fix:</a:t>
            </a:r>
          </a:p>
          <a:p xmlns:a="http://schemas.openxmlformats.org/drawingml/2006/main">
            <a:r>
              <a:t>Split this into two sections. Architecture gets one clean animated path. Controlled actions become full-width ruled rows with 18px copy and one bright web image on hover. Delete all unrelated charts. No data layer may sit behind readable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localhost screenshot: af6e6309-1c77-4118-aa75-93bd655ed3c3.png</a:t>
            </a:r>
          </a:p>
          <a:p xmlns:a="http://schemas.openxmlformats.org/drawingml/2006/main">
            <a:r>
              <a:t>- Repository: https://github.com/GaneshNair007/agentic_ops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fix:</a:t>
            </a:r>
          </a:p>
          <a:p xmlns:a="http://schemas.openxmlformats.org/drawingml/2006/main">
            <a:r>
              <a:t>Critical functional bug. Inspect ScrollTrigger pin spacing, trigger start/end values, element opacity, z-index and conditional rendering. Add a no-JS/reduced-motion finished state. This frame must never exist in the final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localhost screenshot: 0cfeac54-0a6f-4fd6-a468-9d50855d20cd.png</a:t>
            </a:r>
          </a:p>
          <a:p xmlns:a="http://schemas.openxmlformats.org/drawingml/2006/main">
            <a:r>
              <a:t>- Repository: https://github.com/GaneshNair007/agentic_ops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fix:</a:t>
            </a:r>
          </a:p>
          <a:p xmlns:a="http://schemas.openxmlformats.org/drawingml/2006/main">
            <a:r>
              <a:t>Use a clean white or black surface with six readable nodes and one cyan signal line. Place a bright control-room web photo in a separate 40% image column, never beneath labels. Animate one node at a time; keep inactive nodes readable.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localhost screenshot: 0e182d8b-55b8-43e0-89fb-9261dc58649b.png</a:t>
            </a:r>
          </a:p>
          <a:p xmlns:a="http://schemas.openxmlformats.org/drawingml/2006/main">
            <a:r>
              <a:t>- Repository: https://github.com/GaneshNair007/agentic_ops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fix:</a:t>
            </a:r>
          </a:p>
          <a:p xmlns:a="http://schemas.openxmlformats.org/drawingml/2006/main">
            <a:r>
              <a:t>Use a new bright web image of fibre-optic/network flow. Replace the claim with ‘Evidence. Control. Accountability.’ Use CTA ‘Run a simulation’. Preserve image colour and provide a solid black text region rather than darkening the entire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4c043885c4a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50a111d5454bbd" /><Relationship Type="http://schemas.openxmlformats.org/officeDocument/2006/relationships/slideLayout" Target="/ppt/slideLayouts/slideLayout1.xml" Id="Rb78c8343628149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8c8343628149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a5c1604b94825" /><Relationship Type="http://schemas.openxmlformats.org/officeDocument/2006/relationships/image" Target="/ppt/media/image.png" Id="Ra2131f4e12b641a5" /><Relationship Type="http://schemas.openxmlformats.org/officeDocument/2006/relationships/notesSlide" Target="/ppt/notesSlides/notesSlide1.xml" Id="R11e43b2a0eea4b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a2b16e5254325" /><Relationship Type="http://schemas.openxmlformats.org/officeDocument/2006/relationships/image" Target="/ppt/media/image2.png" Id="Rc9dca49daf90461f" /><Relationship Type="http://schemas.openxmlformats.org/officeDocument/2006/relationships/notesSlide" Target="/ppt/notesSlides/notesSlide2.xml" Id="Rb56861de52d64b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c8fd3d0fe479d" /><Relationship Type="http://schemas.openxmlformats.org/officeDocument/2006/relationships/image" Target="/ppt/media/image3.png" Id="R6088ae28df3e4926" /><Relationship Type="http://schemas.openxmlformats.org/officeDocument/2006/relationships/notesSlide" Target="/ppt/notesSlides/notesSlide3.xml" Id="R57c05adc4ebf43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7560338fc4369" /><Relationship Type="http://schemas.openxmlformats.org/officeDocument/2006/relationships/image" Target="/ppt/media/image4.png" Id="Rde204d674cbf432c" /><Relationship Type="http://schemas.openxmlformats.org/officeDocument/2006/relationships/notesSlide" Target="/ppt/notesSlides/notesSlide4.xml" Id="R999698a2766543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22c8ac62342f4" /><Relationship Type="http://schemas.openxmlformats.org/officeDocument/2006/relationships/image" Target="/ppt/media/image5.png" Id="Rcbef127118f443a6" /><Relationship Type="http://schemas.openxmlformats.org/officeDocument/2006/relationships/notesSlide" Target="/ppt/notesSlides/notesSlide5.xml" Id="Rb3d03ec7117d45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0c33aee614bfd" /><Relationship Type="http://schemas.openxmlformats.org/officeDocument/2006/relationships/image" Target="/ppt/media/image6.png" Id="Rcb58e52b009c402e" /><Relationship Type="http://schemas.openxmlformats.org/officeDocument/2006/relationships/notesSlide" Target="/ppt/notesSlides/notesSlide6.xml" Id="R1383aed097d54c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d731f8a36408b" /><Relationship Type="http://schemas.openxmlformats.org/officeDocument/2006/relationships/image" Target="/ppt/media/image7.png" Id="R9e255a4772ff4662" /><Relationship Type="http://schemas.openxmlformats.org/officeDocument/2006/relationships/notesSlide" Target="/ppt/notesSlides/notesSlide7.xml" Id="R06f38ecbf69d4a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e9e5bcc5d47d1" /><Relationship Type="http://schemas.openxmlformats.org/officeDocument/2006/relationships/image" Target="/ppt/media/image8.png" Id="Rbd1a77d6b0114fa8" /><Relationship Type="http://schemas.openxmlformats.org/officeDocument/2006/relationships/notesSlide" Target="/ppt/notesSlides/notesSlide8.xml" Id="Ra8055eb83f0446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5ae92ac95496e" /><Relationship Type="http://schemas.openxmlformats.org/officeDocument/2006/relationships/image" Target="/ppt/media/image9.png" Id="Rbc2b1d7751a94548" /><Relationship Type="http://schemas.openxmlformats.org/officeDocument/2006/relationships/notesSlide" Target="/ppt/notesSlides/notesSlide9.xml" Id="Red665eca55c343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31f4e12b641a5"/>
          <a:stretch xmlns:a="http://schemas.openxmlformats.org/drawingml/2006/main"/>
        </p:blipFill>
        <p:spPr>
          <a:xfrm xmlns:a="http://schemas.openxmlformats.org/drawingml/2006/main">
            <a:off x="381000" y="0"/>
            <a:ext cx="14478000" cy="723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D8FCC-14F8-44EA-AC0D-D0BB8734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3525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819F5-4CEF-4486-A8D0-9E24EF82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430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DB1FD-D5CE-46EC-A5AA-485CF3D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7818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68B75-7A01-4501-9F08-954DAFB9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9723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BE2F0-0D8F-4AA4-A022-60E3B736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3C687-0906-48F2-B8BA-5051BE68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90BAE-A28F-460D-ACF2-A623D061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61416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582AF-2BCF-4503-AB38-CEE16164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63321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BF2A1-7DB3-4670-9B86-0DE2C18F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524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solidFill>
              <a:srgbClr val="07070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9F734-E387-4FB1-A17A-BC4CD2C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9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SCROLL 01 — NAVBAR + HERO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50F23-E782-4D53-9ED7-10B48B67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8DE9C-E668-4FDC-925D-2C9829B3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F8E03-B0C0-479B-B02F-4F918B10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Navigation labels are too small for a primary header.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83DE2-A41A-490C-9745-07DB0367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7CA5B-C41D-43DC-B327-50A59E91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DFE93-E53A-4A48-882E-4E063680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Unexplained black band creates a broken transition before the hero.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8865D-EE57-4B1A-B37F-46E8C7F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33111-3052-4A9A-A764-96518C27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C6175-B4A7-4FF6-A512-A4AB13CA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Hero image is too dark; orange headline introduces an isolated palette.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98F7D-B85F-4DA9-8AFB-267A1AAC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E3048-CCB7-4452-BDFD-BF009070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8BDEC-1EB5-49F4-A52C-66BC45AB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Supporting copy and actions are clipped below the viewport.</a:t>
            </a:r>
          </a:p>
        </p:txBody>
      </p:sp>
    </p:spTree>
    <p:extLst>
      <p:ext uri="{BB962C8B-B14F-4D97-AF65-F5344CB8AC3E}">
        <p14:creationId xmlns:p14="http://schemas.microsoft.com/office/powerpoint/2010/main" val="801688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ca49daf90461f"/>
          <a:stretch xmlns:a="http://schemas.openxmlformats.org/drawingml/2006/main"/>
        </p:blipFill>
        <p:spPr>
          <a:xfrm xmlns:a="http://schemas.openxmlformats.org/drawingml/2006/main">
            <a:off x="0" y="10236"/>
            <a:ext cx="15240000" cy="721852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3C728-D761-42E4-93FA-71967FDB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7447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B36DA-A955-4FFB-9324-219CD494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9352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829E7-45B9-44E6-90BF-7A67DA9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1E7DB-F1E9-4ED3-B576-4C79AFD6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10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901D5-450C-4052-B8FF-701E0A0E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0139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6D861-2EF7-4DC1-B441-900B8F88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044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85B90-350B-426B-A432-F5E01DFC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35661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EE32F-440F-42D0-A395-0E74045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37566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CDB64-66F7-4F92-BD4D-5F448F1C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524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solidFill>
              <a:srgbClr val="07070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4F11B-F85A-444D-8E81-74083858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9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SCROLL 02 — WORKFLOW / STATE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5E860-4F66-4523-AE53-5DF88F3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AB6F6-1026-45DD-B290-52855CE0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62203-221F-44B0-824B-50B42469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The scene begins with too much empty cream space.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EED92-08AD-46AB-8065-CBEEB7E7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86BA-A820-4A1A-B5F2-404FDC3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E2F43-FB76-4A7A-B75E-3E481D05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Inactive stages are so pale that they look disabled or missing.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8E9F9-3E0A-4DDA-9452-E18EEE9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63918-0902-4FCF-B6DA-BD5B12AA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FACFE-1B9F-47C0-99E5-0DF27E8E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One blurred cable photograph cannot carry all three workflow states.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F2988C-BE99-49BF-BC49-76E600B0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89A4F-5CE8-4137-97A9-E734280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C91B5-F264-4988-A8F0-1F8FF677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The image and text occupy only the middle half of a wide viewport.</a:t>
            </a:r>
          </a:p>
        </p:txBody>
      </p:sp>
    </p:spTree>
    <p:extLst>
      <p:ext uri="{BB962C8B-B14F-4D97-AF65-F5344CB8AC3E}">
        <p14:creationId xmlns:p14="http://schemas.microsoft.com/office/powerpoint/2010/main" val="1626414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8ae28df3e4926"/>
          <a:stretch xmlns:a="http://schemas.openxmlformats.org/drawingml/2006/main"/>
        </p:blipFill>
        <p:spPr>
          <a:xfrm xmlns:a="http://schemas.openxmlformats.org/drawingml/2006/main">
            <a:off x="0" y="28237"/>
            <a:ext cx="15240000" cy="718252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DF2E0-BFEA-4E4A-B965-725DA940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1252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68B6D-E78C-4B69-90EC-7B827B4F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3157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2BDEE-4DCB-4F6F-9099-E84A396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2227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AE5D1-574A-403B-9402-DB1581A6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132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96F0D-01F6-4458-8A8D-E464A16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1183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6C660-98A3-4612-83C8-E3E88BA4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3088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6BBE7-3D34-4244-AA8C-2B4D4A6D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61416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C4B2B-D190-48B6-A4F6-502CCF4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63321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BEE13-B615-41B5-9C7D-5C5BADA9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524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solidFill>
              <a:srgbClr val="07070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3496D-E9A9-418F-A4DB-C60931FA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9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SCROLL 03 — WORKFLOW / REPEATED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6E801-96A3-4D68-9CF5-26042CEC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935A1-722D-4F27-979A-0BB809F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6B831-B824-4097-B6E0-4FAED3F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This repeats Scroll 02 without enough visual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26E6C-A1BF-4693-94F6-6E281E68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3E67D-A6A1-4511-B678-65BC69AA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29677-B4A0-46F3-BCCA-98489052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Active and inactive copy remains extremely low contrast.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10EDB-783A-404D-B25C-0B751C3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2C2CC4-E880-4BC5-AF70-FDF5DC19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811E9-3AC1-4F6A-9F79-5ADB242C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The same photograph is reused; the promised image transition is absent.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C99C0-B4F2-46E2-A924-008D2E1F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01F82-197F-4363-994C-2E67DD71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AB0C0-4869-4A73-B600-8D023B9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Final heading is cut off, proving the pinned height/timing is wrong.</a:t>
            </a:r>
          </a:p>
        </p:txBody>
      </p:sp>
    </p:spTree>
    <p:extLst>
      <p:ext uri="{BB962C8B-B14F-4D97-AF65-F5344CB8AC3E}">
        <p14:creationId xmlns:p14="http://schemas.microsoft.com/office/powerpoint/2010/main" val="1829999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04d674cbf432c"/>
          <a:stretch xmlns:a="http://schemas.openxmlformats.org/drawingml/2006/main"/>
        </p:blipFill>
        <p:spPr>
          <a:xfrm xmlns:a="http://schemas.openxmlformats.org/drawingml/2006/main">
            <a:off x="11906" y="0"/>
            <a:ext cx="15216187" cy="723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CEB5C-5DF9-4061-87C2-CFE8D84B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04013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BFB47-B07E-4BE5-8D9E-D973687E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5918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2D49C-B550-4734-8EB8-75846320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9466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2FCF3-298C-4B61-BD53-41B24878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1371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D8A32-89D6-4ABC-8EE4-9657B3BD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2227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9FEC3-42F1-443C-8EE4-E712C47B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4132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7B77E-0FC3-4550-9270-DAC7266F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1114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CB0B5-18C1-4EB7-858E-DFA7FC26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3019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8C613-C2F2-409C-A253-D6BF5569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524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solidFill>
              <a:srgbClr val="07070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7B50B-019F-4A58-94A6-515D526B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9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SCROLL 04 — INCIDENT SIMULATOR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0B661-EA4E-429A-A9E1-0AF4047D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A6435-547A-4BA4-9A30-0D6F7B7F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07206-104F-4380-B683-18DABF5F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Simulator controls are small and trapped in another bordered box.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BC539-BE88-4FBB-AE93-1199519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867B4-D8CC-4DBE-90CE-857ED71E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2D5D3-70C0-4EBF-A090-239CCD80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Input labels and values are too small to scan comfortably.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B3559-D2E9-4701-ADAC-FA6448B3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8EA40-4403-4319-9EEB-9B1FADA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1BAED-FBA8-4B47-A12E-51A5315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The black output panel is empty instead of previewing pipeline stages.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D703E-E3A2-40CA-BBA1-9FEB4CB2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0DF5B-CC57-47C7-A110-84F6C714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CD392-5C88-4FCD-92F3-3FEC2EC7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Nearly half the viewport is unused blank space.</a:t>
            </a:r>
          </a:p>
        </p:txBody>
      </p:sp>
    </p:spTree>
    <p:extLst>
      <p:ext uri="{BB962C8B-B14F-4D97-AF65-F5344CB8AC3E}">
        <p14:creationId xmlns:p14="http://schemas.microsoft.com/office/powerpoint/2010/main" val="975113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f127118f443a6"/>
          <a:stretch xmlns:a="http://schemas.openxmlformats.org/drawingml/2006/main"/>
        </p:blipFill>
        <p:spPr>
          <a:xfrm xmlns:a="http://schemas.openxmlformats.org/drawingml/2006/main">
            <a:off x="0" y="95847"/>
            <a:ext cx="15240000" cy="704730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04414-2816-4DE6-9881-69F2F12C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7818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49876-E826-48FD-B9E0-83B07A00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9723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0E4B3-F568-485A-81BD-AC7CC73C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9164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F4E3C-3AE2-4EFA-A9AC-70C0461F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069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4ED23-57BF-4BA0-9A1B-8BF23C08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4246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F640D-ADBF-4716-8F06-7F7DAEDA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6151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19FA4-9ABA-4C72-83F8-6B3E058C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44246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DCCD5-394C-4622-8453-D44BB5C8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46151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41838-3DDC-498B-A687-F9967D53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393573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A3D6C-4B6E-4A13-B6A1-852FA61B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95478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D54C7-28FD-4CE2-8569-53666D6F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524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solidFill>
              <a:srgbClr val="07070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894DB-BDA7-4B61-B380-41EA61A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9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SCROLL 05 — EVIDENCE GALLERY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B38E1-63F5-4B97-9279-2D0697F4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0790F-A12F-4AC1-AA4D-38ED4AA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D93B6-1E65-4969-B729-086F7250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73533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Noisy texture competes with every word and input.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30398-468A-4A36-AEF7-F0B74E5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8728C-C901-4A65-A2F5-D0C933E2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6B1C7-B717-4016-8A71-A9777426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73533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Search controls use tiny technical labels and inconsistent orange accents.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F8633-E2C5-434F-8C33-E70EBDBE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5FDD9-0115-413C-B38C-A8441035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30156-BE78-499A-963C-88C87163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73533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Evidence body is an unreadable wall of raw text.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49F829-E121-444F-AC8B-65DEE1BE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D4352-7269-42D7-8AF7-F2A8FDA1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A03F3-5435-472E-9541-3360D33D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78771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Cards repeat the same dense terminal treatment with no visual hierarchy.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5B5F6-9FD5-4278-8161-1E541C2B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2693F2-D9CA-4C16-8587-AD05EB9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D9C9D8-8E91-493E-8373-A18958DD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78771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Horizontal content is clipped at the viewport edge.</a:t>
            </a:r>
          </a:p>
        </p:txBody>
      </p:sp>
    </p:spTree>
    <p:extLst>
      <p:ext uri="{BB962C8B-B14F-4D97-AF65-F5344CB8AC3E}">
        <p14:creationId xmlns:p14="http://schemas.microsoft.com/office/powerpoint/2010/main" val="1495078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8e52b009c402e"/>
          <a:stretch xmlns:a="http://schemas.openxmlformats.org/drawingml/2006/main"/>
        </p:blipFill>
        <p:spPr>
          <a:xfrm xmlns:a="http://schemas.openxmlformats.org/drawingml/2006/main">
            <a:off x="0" y="12329"/>
            <a:ext cx="15240000" cy="721434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38948-D736-4FAA-B665-6A54B7C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403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0F632-7DA6-4BAE-A8F8-FFD69DDA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8308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89505-DD90-41BE-B98F-BF372D77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837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3E984-947C-42C4-A350-DFE1154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1742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36661-ED3E-4DDA-857C-3719EDE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35661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0B8DB-A3FE-4F20-85C7-D7957D19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37566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E839A-4B1A-4B8E-8717-4B80BFFD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158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09953-93BB-4806-AE65-4688D8C3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4063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813B2-CEE1-4188-9607-63F1CEEF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E9F71-48B8-481D-A762-527BDFD9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3436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1C6E4-38BE-40BE-925B-C39EA35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524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solidFill>
              <a:srgbClr val="07070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C9199-910D-4299-A6CA-53CA96A3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9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SCROLL 06 — SAFETY / CONTROLLED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5C813-36F5-44B5-BB7C-12EC6183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9C759-E3FF-44B1-B4FD-3C430160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B7F49-62AE-43CB-9A42-E63C65D3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73533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Charts, table, photograph and SVG path are stacked into one illegible layer.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FC096-D0F8-4AF6-AAA2-B117324F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D8BB2-3064-46CD-932A-D2033CCB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B2FE8-D49F-44BC-9BBF-38307560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73533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Architecture labels disappear beneath unrelated analytics graphics.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A0D15-8C92-4062-B32C-488E2E1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66140-2F0C-468A-9133-EAB55D5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7E083-2A2B-498A-8D4E-212255A4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73533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Green parameter boxes and orange accents break the visual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4A1A5-49AD-465E-A559-EFD5CCC0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EACFC-F6C3-4DAB-A06B-CCCC8642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8B077-9DA6-4B7E-BFE4-6D491984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78771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Text is microscopic; normal users cannot compare actions or constraints.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0430C-E734-4827-8A40-FB2CC922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81D8F-F79C-48EB-868A-5CDAF89B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7E41F7-31B4-48E7-B7E0-ACAE307A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78771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9B9"/>
                </a:solidFill>
              </a:defRPr>
            </a:pPr>
            <a:r>
              <a:rPr sz="975" b="0">
                <a:solidFill>
                  <a:srgbClr val="B9B9B9"/>
                </a:solidFill>
              </a:rPr>
              <a:t>The section tries to explain architecture and actions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1801303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55a4772ff4662"/>
          <a:stretch xmlns:a="http://schemas.openxmlformats.org/drawingml/2006/main"/>
        </p:blipFill>
        <p:spPr>
          <a:xfrm xmlns:a="http://schemas.openxmlformats.org/drawingml/2006/main">
            <a:off x="0" y="12753"/>
            <a:ext cx="15240000" cy="721349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5954E-EFF6-4739-9A37-3AFE4D05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4988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8933B-759A-43E2-A881-6E84C817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6893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FFC93-A19B-42F7-B7B9-B91A9A1D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3202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92107-4C05-4D1D-9510-DF7A79F3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5107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F0FE4-9317-41F3-921C-1674E6E2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524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solidFill>
              <a:srgbClr val="07070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0C6DD-4644-4585-8431-51578E95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9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SCROLL 07 — CRITICAL BLANK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2C59E-A165-453F-A365-BAF6F1BA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AB085-A7FE-4FB6-A78B-D0990727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D6F2F-DBF1-4FF7-89B3-3A1829C8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The entire scroll state is blank black.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90258-074B-46AA-88CE-FCA7FBF5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38A38-87C0-4B81-BE80-8F1C5A4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522AC-6A2A-4CE2-9FBC-E1D4589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Likely causes: pinned spacer, zero-opacity content, bad z-index or failed trigger cleanup.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3EFFF-E12B-4F9F-B9E1-9A03E58C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517DF-156C-43F6-8E47-A90C1EC8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92245-293B-4BAB-805E-78FDE15D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Users receive no feedback and may assume the website crashed.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CFA3B-878E-420C-A097-A47EF031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171B7-991C-4CD4-9825-E3D40507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BC0B1-FE2D-437E-8E3C-84DAEC21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Remove this scroll distance completely until valid content renders.</a:t>
            </a:r>
          </a:p>
        </p:txBody>
      </p:sp>
    </p:spTree>
    <p:extLst>
      <p:ext uri="{BB962C8B-B14F-4D97-AF65-F5344CB8AC3E}">
        <p14:creationId xmlns:p14="http://schemas.microsoft.com/office/powerpoint/2010/main" val="264499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a77d6b0114fa8"/>
          <a:stretch xmlns:a="http://schemas.openxmlformats.org/drawingml/2006/main"/>
        </p:blipFill>
        <p:spPr>
          <a:xfrm xmlns:a="http://schemas.openxmlformats.org/drawingml/2006/main">
            <a:off x="138919" y="0"/>
            <a:ext cx="14962162" cy="723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179C0-C8A8-4A33-8C28-6EE9F282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DF022-EF7D-454F-8101-399E3061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E7242-EB57-4B3C-A6DA-D7242314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422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941C6-207A-4CB4-A4F0-04C520EE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0327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B2D7D-F1FE-4639-9251-363073C4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441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FB485-3696-4597-9B21-2A94A3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2346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B4353-CA8C-4785-9BC3-E738DCBA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343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DBF67-18F8-4900-8B2B-18F69D80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62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9DC72-CD45-49BF-A380-43D978CC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524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solidFill>
              <a:srgbClr val="07070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1B0A3-3BA5-4A90-BFDB-AE74D259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9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SCROLL 08 —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4F47D-0C62-4D4D-AB35-869CE62C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D2321-0FD1-4CE5-B5A5-57E02E9A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4D53A-4F76-4C95-81DE-2485A8F7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Architecture labels are hidden by a heavy dark overlay.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640D4-9D82-4883-8B80-D5DF34C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EEE9A-37FE-4216-A5E4-157EF02D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FFCBC-3CFA-4EAE-8C91-1E67E155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The oversized white path cuts across the image without explaining sequence.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25CE0-BA53-4C6C-AD9C-1A3EEDAF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82D2A-B8D4-4382-8EEC-D945210B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1831C-93A9-4AEB-9D67-7658A44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Most component descriptions are effectively invisible.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B368B-3CA1-4AB8-B95C-D97F22A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C58A3-42D3-4286-83A4-4BFF901D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CBA1D-B443-4625-A8AB-18F40B0B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Generic team photography does not show the technical system being described.</a:t>
            </a:r>
          </a:p>
        </p:txBody>
      </p:sp>
    </p:spTree>
    <p:extLst>
      <p:ext uri="{BB962C8B-B14F-4D97-AF65-F5344CB8AC3E}">
        <p14:creationId xmlns:p14="http://schemas.microsoft.com/office/powerpoint/2010/main" val="1651315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b1d7751a94548"/>
          <a:stretch xmlns:a="http://schemas.openxmlformats.org/drawingml/2006/main"/>
        </p:blipFill>
        <p:spPr>
          <a:xfrm xmlns:a="http://schemas.openxmlformats.org/drawingml/2006/main">
            <a:off x="20239" y="0"/>
            <a:ext cx="15199521" cy="723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8ED8B-884B-44F5-852B-471E45E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13EB4-A78B-4978-BE74-879A904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24D1B-C613-4DF3-8C86-4EFBD4F1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90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BA2E8-10D4-40C3-AA49-CCC0E49E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10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9C068-ED20-4B46-B41D-74296A62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441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48E85-5488-41D8-B35A-9230B5EB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2346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BFEFE-369A-4DD0-81FE-BA2C78AF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31114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A3577-AB00-4438-9B93-2F9C4FFA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33019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FB9F1-D01D-4067-96D1-763DD70A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524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solidFill>
              <a:srgbClr val="07070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5D8AE-69DF-474F-B9F2-3249D440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9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SCROLL 09 — CLOSING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FB880-E04B-4EBA-A1C2-C24A570B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65F4D-3AB4-4D0D-884B-FBE9C13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66815-7A3B-4460-8A98-6B02450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Hero server image is repeated, weakening the close.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D3358-071C-48FD-B844-EB95F214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381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953E7-89DC-4F92-ADE4-2020FBA3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9140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D0A91-D200-48C9-A9BD-7E2A9F51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35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The slogan makes an unsupported promise about ending alert fatigue.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C7FA7-D85E-4B08-9B54-94BB3A8C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20A97-9044-4C6D-B85D-7154B6F2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2BA5D-2317-421A-8F4F-361EA595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‘Deploy Engine’ is the wrong action for a simulation-first project.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57AD4-ACAE-4823-AC80-168E6C96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05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E9496-778A-4D19-9349-2337E9CE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91527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05A95-6245-46CD-9AE2-BFCCDB2C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87717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9B9"/>
                </a:solidFill>
              </a:defRPr>
            </a:pPr>
            <a:r>
              <a:rPr sz="1125" b="0">
                <a:solidFill>
                  <a:srgbClr val="B9B9B9"/>
                </a:solidFill>
              </a:rPr>
              <a:t>The extreme darkening removes the colour direction requested for imagery.</a:t>
            </a:r>
          </a:p>
        </p:txBody>
      </p:sp>
    </p:spTree>
    <p:extLst>
      <p:ext uri="{BB962C8B-B14F-4D97-AF65-F5344CB8AC3E}">
        <p14:creationId xmlns:p14="http://schemas.microsoft.com/office/powerpoint/2010/main" val="1883421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2026-08-28T21:24:31.8210000Z</dcterms:created>
  <dcterms:modified xsi:type="dcterms:W3CDTF">2026-08-28T21:24:31.8220000Z</dcterms:modified>
</coreProperties>
</file>